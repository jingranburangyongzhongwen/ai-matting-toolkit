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开场先轻松说一句——我的主业其实不是抠图。今天换个角度来聊：跨界做事的时候，到底哪些是大概率不变的生成机制，又有哪些技巧可以从机制里推出来。我平时有个习惯，多看、多积累，等哪里紧了再借 AI 的力，所以这场分享讲的不是 AI 本身，而是借的时候怎么借稳。封面刻意不放抠图对比图，也不一上来就列一串视觉模型清单。咱们直接进正题。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可以带一句：技巧是会过时的，今天我们讲的是变与不变。整场的主张是——每个环节都有不变的机制，我从机制延伸出做法，供大家参考；你听完后可以基于同样的机制，延伸出自己的做法。目录顶部这条主线是环节之间的顺序：调研定边界、AI 开发讲机制和延伸、工程落地、产品交出去。下面 5 站跟实际页面顺序一一对应：第 1 站讲为什么做和工具长什么样；第 2 站调研，机制是扫全再收敛，延伸是按顺手方式收成做/不做；第 3 站是重点，AI 开发占了 P06 到 P16 一共 11 页，4 条机制各跟若干延伸做法；第 4 站工程，机制是高内聚低耦合，延伸是分层拆开改；第 5 站产品，机制是不做真实使用必有偏差，延伸是尽早给用户用。全程把抠图当作载体——目的是证明「机制到延伸」这条链路可以迁移到别的领域，不是来给大家上一堂抠图课。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这一页大概两分钟。别展开吐槽别的选题，其他选题其实类似飞书 CLI 加 Agent 就能实现，不算硬核需求。口播一句即可：入场印象是 SAM；落地选型按自动直出 / 可控选区拆开——这是调研收敛，不是领域综述。如果被追问具体模型名，可以回答一键主路径不是 SAM alone；不要展开 RMBG、ViTMatte 这些细节，一句带过「现成开源拼装」就行。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这一页只建立画面感，不展开技术栈。上方左侧 hero 标题讲清楚工具一句话——本地上传一张图得到抠图结果；右侧三个能力 chip（自动识别主体直出、自定义框选点选、边缘修复）+ 演示 URL。下方横铺一张工具页面截图，因为是横向 3:1 的图，上下布局才能完整展示不被压缩。现场可以切浏览器打开 URL 点一次完整流程，再回来继续讲原则。不要做前后对比拼图。如果有人问技术栈，可以答：本地 Gradio 加开源模型拼装；本场重点是协作方法，不是抠图算法本身。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记一句：调研阶段要舍得铺开；至于怎么铺开，随你顺手，别被框架绑死。调研的本质是定边界，后面模型、工程、产品都是按这个边界做出来。对跨界者特别强调一点：先承认自己不是领域专家，所以更要先扫全再收敛，而不是一上来就深挖某一条视觉论文。我自己用的是网页会话——提纲、铺开、对比三步走，定下做 / 不做的边界。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金句三连：错了会越写越歪；前面有锚点，也会顺着写下去；叫它审自己，也容易圆过去。本页只立原则 + 解释为什么大概率不变，做法和例子全部放到「所以」页。别和 RNN 搅在一起——Transformer 训练可以并行，靠因果 mask 一次性算整段；本页钉的是推理 / 生成阶段：解码仍然是一次一个 token，新 token 拼回前文再算下一步。配图画的是推理解码闭环，不是 RNN 隐状态绕圈，也不是多层 Transformer 剖面。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贴合机制的核心：条件里有没有「正确前缀」，决定了续写往哪走；锚点就是人为塞进去的正确前缀。例 2 不是训练蒸馏——强模型留下的是一条可跟随的轨迹，包含验证步骤；弱模型在同一任务上续写时更容易照着走，而不是从头发明。口播时可以提一句：有人用 claude.md 这类文件承载短规则，形态可变，但机制就是「常驻正确前缀」。上屏少提具体模块名，避免被听成抠图技术分享。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本页对应「一次一件事」推论。本质就是别让条件里同时跑多条互相抢的续写——拆开做、Goal 写清楚、丢掉脏前文、定位和修复分模型，都是同一原则的不同侧面。Goal 可补一句：给完整目标，少逐步遥控；人频繁打断等于往前文塞噪声、截断推理链。脏前文丢掉对应技术锚点 0264d5a。若被问到「新开窗」，它只是丢弃脏前文的一种操作，不是原则本身。「放哪儿才看得见」属注意力不均那条，不在本页。便宜到强模型那段：变的是哪家模型，不变的是先把「修」的条件凑齐再续写。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金句：法官不要和被告共用一段前文；能把验真外包给脚本 / Goal，人就从「盯梢」里解放出来。可再钉一句：生成变快了，验真没变便宜——所以更要把考官挪到窗外。Goal 耗时长但省心：换的是人的注意力，不是省略验真。固化进仓库的脚本对应工程 · commit 与验收那条线。强度排序口播可一带：环境事实最强，脚本次之，Goal 小模型裁判再次，最弱是同模型新会话审 diff。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老实讲：这是经验规律，不是数学定理；别说成自回归推出来的。这里最能体现「懂算法的跨界」：敢用经验规律，也敢说清它不是定理。和自回归衔接：前文形状定续写方向，注意力决定前文里哪一段真的进账。若被追问边界：短上下文 / 只塞相关片段时全局 U 型不明显——口播一句即可，不上屏。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金句：需要才加载；加载时又在最新读到的那截里，两头都占优。旧称「抢落点」是同一做法。技术锚点：粘贴坑在 layout.py / events.py，曾反复发明回 Base64。做法：文件头写职责 + 踩坑史；重要函数旁补短注。若被问到「长 Prompt 关键约束放哪」：口播一句——靠上下文两头，少埋腰部。和常驻短规则分工：几乎每次都要用的进短规则；局部才要用的进旁注。工程侧只讲高内聚低耦合，旁注不单开工程页。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不是「概率输出」的子条：偏大众来自训练学了什么分布；就算不随机采样、走贪心，也常落到高频解上。「loss 到不了 0」可口播成直觉；更干净的说法是 MLE 学条件分布、高概率区域占优。和概率输出衔接：学的是分布，推理才从分布里抽——一个管「分布长什么样」，一个管「这一次怎么抽」。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动手可以靠它，想清楚省不得——但更准确的说法是「不能外包所有思考」。浅水区常见场景模型稳定做对，放手外包；深水区高度特异化场景，模型默认落回「大家都这么做」，而常见解往往不对——这时候人的思考和判断力要顶上来，把小众但更对的路想透，再当锚点让模型落地。去色边就是典型：模型反复提「全局优化」一类常见说法，这是分布默认；涂抹局部处理是按产品形态自己想出来的，再当锚点让模型实现。和「锚点续写」：大众解是分布默认，锚点用来把续写拽到小众正确轨迹上。和「多候选再选」：多问几遍仍可能都是大众解，小众路线有时得人先想出来。不全是「分布偏大众」四个字能概括——也有训练语料里任务被说成全局优化的惯性；跨界时更常见的是关键选型自己想清楚，再让模型落地。不要展开去色边数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自回归分工：自回归等于条件依赖（前文形状）；概率等于这一次是抽样（同一条件下仍有方差）。和分布拟合分工：分布拟合等于学出来的分布偏众数；本页等于推理时怎么抽、抽偏了怎么办。口头置信度「我很确定」不等于校准过的概率——别当查表置信度用。术语统一用「概率输出」，勿与「多候选再选」混称成「概率采样」。口播可用高尔顿板直觉：不是改小球本身，而是加挡板挡住错误岔路，期望隔间落球概率升高——对应「收窄采样空间」，不是给模型补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金句：逐步加禁令，本质是在收窄采样空间，不是给模型补课。模型离谱就撤掉重来，不要和坏回复抬杠。旧称「答错不等于不会」是一种认知纠偏，可作口播补充，但上屏仍用行为名「逐步加约束」。要钉死的概念：本例主操作是改条件，不是 Best-of-N，Best-of-N 在下一页才讲。和自回归「锚点续写」的关系——有时也是因为条件里没有可续的正确轨迹。卡死时可换模型或换说法，那是换分布，口播一句带过即可。右侧高尔顿板配本页：挡板就是约束，挡得越准，落点越收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Best-of-N 的朴素版：把随机性当资源。验真器可以是人眼对比、对照开源项目、或短跑通验证。和上一页「逐步加约束」分工——那边是坏了再来、逐步加禁令；本页是故意多抽再挑。开发中如果同一 Goal 出两版再看 diff，口播可以补一句，但上屏仍用调研阶段更贴近个人习惯。如果某一模型反复同质抽偏，可以换模型或换条件，比如塞开源上下文再采——这其实和「锚点续写」重叠，口播带过即可，不展开。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术语保留「高内聚低耦合」，解释用大白话——该在一起的放一起，不相关的别缠在一起；不展开成三套工程子机制。听众多为非技术背景，一页原则加一页例子足够，不单独拆「可回归 / 可追溯」专页。从跨界者角度看：在不够懂领域细枝末节的时候，更要靠结构把改动的炸裂半径关掉。Agent 改代码快，缠在一起炸得也快，所以这条老话今天更要守。下一页就落到本项目，看具体怎么做。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条都是同一推论下的具体做法，不升格成三个标题。旧称「结构让改动可控」偏结果表述，现在改写成「分层拆开改」更动词化、更可操作。文件名、脚本名口播即可，上屏少堆路径，避免听成架构炫技。「边缘处理」口播点一下就行，不必念模块名。把界面、逻辑、引擎分开后，改边缘处理不容易动到上传；重复的抽成共用，少漏改；重要行为有测试、一事一提交，坏了能发现，回头也看得懂项目怎么长出来的——这就是落到本项目上的「分层拆开改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原「交付才产生信息 / 反馈改优先级」收进这一条，不必拆三页。口播可补：自己觉得「差不多了」，多半还只是 70 分。这一页可以切到浏览器打开反馈 URL，扫一眼真实反馈即可，不必念屏上原文。收束一句话——用户是最好的产品经理，前提是先交出能用的东西。跨界者尤其依赖这一条：领域直觉不够时，真实使用比自评更早暴露边界。把不变、所以、例子串起来：不变是不做真实使用必有偏差；所以是尽早交出去；例子是发丝绿幕被 UI 和策划真抠出来，才让色边、过切、粘贴、两 Tab 布局变成主路径上的真问题。底部 URL 和引言收进同一个琥珀面板，视觉重量够了。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第一行不是目录，是把全文收成三步——调研定边界、原则推「所以」、工程与产品交出去。口播点一下即可，不要展开复述。整个口播约 40 秒：第一步指第一行说今天就这三步；第二步可选，半句桥——回看分享也像跟模型协作，先给上下文，再给指令，例子当示范；第三步念麦克卢汉这句，停；第四步落下一句白话，再停；第五步「谢谢大家」不解释、不拥抱时代。如果桥接抢戏，删掉第二步。名句和落地一个是典、一个是今天的回声，不要两边都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简短致谢即可，不必复述全篇。可补一句：今天讲的是借 AI 的时候怎么借稳——机制大概不变，技巧都是「所以」，结构对齐工程，最后交出去给用户。Q&amp;A 环节欢迎现场追问，无论是工具使用细节、协作流程，还是反例与边界都可以聊。整场到此为止，保持留白，不拥抱时代、不解释，让最后一帧停在留白上即可。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739378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3311017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IDREAMSKY · HACKATHON RETRO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1743075"/>
            <a:ext cx="86296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46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跨界黑客松 · 经验交流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514350" y="2053828"/>
            <a:ext cx="8629650" cy="68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61"/>
              </a:lnSpc>
              <a:buNone/>
            </a:pPr>
            <a:r>
              <a:rPr lang="en-US" sz="4725" spc="-47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延伸 · 落地</a:t>
            </a:r>
            <a:endParaRPr lang="en-US" sz="4725" dirty="0"/>
          </a:p>
        </p:txBody>
      </p:sp>
      <p:sp>
        <p:nvSpPr>
          <p:cNvPr id="7" name="Text 5"/>
          <p:cNvSpPr/>
          <p:nvPr/>
        </p:nvSpPr>
        <p:spPr>
          <a:xfrm>
            <a:off x="514350" y="2883843"/>
            <a:ext cx="8629650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spc="50" kern="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一次跨界黑客松的经验交流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514350" y="3461035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李坤峰 · </a:t>
            </a:r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1563" y="4614863"/>
            <a:ext cx="6169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21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745084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2095128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77805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32247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36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CONTENTS</a:t>
            </a:r>
            <a:pPr algn="l" indent="0" marL="0">
              <a:lnSpc>
                <a:spcPts val="928"/>
              </a:lnSpc>
              <a:buNone/>
            </a:pPr>
            <a:r>
              <a:rPr lang="en-US" sz="700" spc="136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全程路线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4350" y="1007269"/>
            <a:ext cx="8629650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spc="-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514350" y="1438684"/>
            <a:ext cx="81153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每个环节都有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不变的机制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——我延伸出的做法，供你参考。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3564954" y="1834381"/>
            <a:ext cx="3804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02720" y="184509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B86D">
                    <a:alpha val="6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02745" y="1834381"/>
            <a:ext cx="6411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开发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03477" y="184509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B86D">
                    <a:alpha val="6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03502" y="1834381"/>
            <a:ext cx="3804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41268" y="184509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B86D">
                    <a:alpha val="6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41293" y="1834381"/>
            <a:ext cx="32883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7922" y="2230859"/>
            <a:ext cx="8108156" cy="473943"/>
          </a:xfrm>
          <a:prstGeom prst="roundRect">
            <a:avLst>
              <a:gd name="adj" fmla="val 10049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0081" y="2374962"/>
            <a:ext cx="54864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spc="29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63" dirty="0"/>
          </a:p>
        </p:txBody>
      </p:sp>
      <p:sp>
        <p:nvSpPr>
          <p:cNvPr id="18" name="Text 16"/>
          <p:cNvSpPr/>
          <p:nvPr/>
        </p:nvSpPr>
        <p:spPr>
          <a:xfrm>
            <a:off x="1135856" y="2313012"/>
            <a:ext cx="7358063" cy="158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spc="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 · 工具长什么样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1135856" y="2499420"/>
            <a:ext cx="71206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痛点与可行性 · 本地一键抠图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833554" y="2408895"/>
            <a:ext cx="6603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P03 — 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2769096"/>
            <a:ext cx="8108156" cy="473943"/>
          </a:xfrm>
          <a:prstGeom prst="roundRect">
            <a:avLst>
              <a:gd name="adj" fmla="val 10049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0081" y="2913199"/>
            <a:ext cx="54864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spc="29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63" dirty="0"/>
          </a:p>
        </p:txBody>
      </p:sp>
      <p:sp>
        <p:nvSpPr>
          <p:cNvPr id="23" name="Text 21"/>
          <p:cNvSpPr/>
          <p:nvPr/>
        </p:nvSpPr>
        <p:spPr>
          <a:xfrm>
            <a:off x="1135856" y="2851249"/>
            <a:ext cx="7358063" cy="158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spc="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</a:t>
            </a:r>
            <a:endParaRPr lang="en-US" sz="956" dirty="0"/>
          </a:p>
        </p:txBody>
      </p:sp>
      <p:sp>
        <p:nvSpPr>
          <p:cNvPr id="24" name="Text 22"/>
          <p:cNvSpPr/>
          <p:nvPr/>
        </p:nvSpPr>
        <p:spPr>
          <a:xfrm>
            <a:off x="1135856" y="3037656"/>
            <a:ext cx="73580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扫全再收敛 · 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按顺手方式收成做/不做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227457" y="2947132"/>
            <a:ext cx="2664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P05</a:t>
            </a:r>
            <a:endParaRPr lang="en-US" sz="8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3303761"/>
            <a:ext cx="8115300" cy="60431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17922" y="3307333"/>
            <a:ext cx="8108156" cy="597173"/>
          </a:xfrm>
          <a:prstGeom prst="roundRect">
            <a:avLst>
              <a:gd name="adj" fmla="val 7975"/>
            </a:avLst>
          </a:prstGeom>
          <a:noFill/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50081" y="3513051"/>
            <a:ext cx="54864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spc="29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63" dirty="0"/>
          </a:p>
        </p:txBody>
      </p:sp>
      <p:sp>
        <p:nvSpPr>
          <p:cNvPr id="29" name="Text 26"/>
          <p:cNvSpPr/>
          <p:nvPr/>
        </p:nvSpPr>
        <p:spPr>
          <a:xfrm>
            <a:off x="1135856" y="3389486"/>
            <a:ext cx="7358063" cy="158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spc="10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lnSpc>
                <a:spcPts val="1243"/>
              </a:lnSpc>
              <a:buNone/>
            </a:pPr>
            <a:r>
              <a:rPr lang="en-US" sz="956" spc="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开发</a:t>
            </a:r>
            <a:endParaRPr lang="en-US" sz="956" dirty="0"/>
          </a:p>
        </p:txBody>
      </p:sp>
      <p:sp>
        <p:nvSpPr>
          <p:cNvPr id="30" name="Text 27"/>
          <p:cNvSpPr/>
          <p:nvPr/>
        </p:nvSpPr>
        <p:spPr>
          <a:xfrm>
            <a:off x="1135856" y="3575893"/>
            <a:ext cx="6781540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自回归 · 注意力不均 · 分布拟合 · 概率输出</a:t>
            </a:r>
            <a:endParaRPr lang="en-US" sz="7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锚点续写 · 一次一件事 · 外部验真 · 等 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条做法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833554" y="3546983"/>
            <a:ext cx="6603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P06 — 16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17922" y="3968800"/>
            <a:ext cx="8108156" cy="473943"/>
          </a:xfrm>
          <a:prstGeom prst="roundRect">
            <a:avLst>
              <a:gd name="adj" fmla="val 10049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50081" y="4112902"/>
            <a:ext cx="54864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spc="29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463" dirty="0"/>
          </a:p>
        </p:txBody>
      </p:sp>
      <p:sp>
        <p:nvSpPr>
          <p:cNvPr id="34" name="Text 31"/>
          <p:cNvSpPr/>
          <p:nvPr/>
        </p:nvSpPr>
        <p:spPr>
          <a:xfrm>
            <a:off x="1135856" y="4050953"/>
            <a:ext cx="7358063" cy="158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spc="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956" dirty="0"/>
          </a:p>
        </p:txBody>
      </p:sp>
      <p:sp>
        <p:nvSpPr>
          <p:cNvPr id="35" name="Text 32"/>
          <p:cNvSpPr/>
          <p:nvPr/>
        </p:nvSpPr>
        <p:spPr>
          <a:xfrm>
            <a:off x="1135856" y="4237360"/>
            <a:ext cx="71206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高内聚低耦合 · 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分层拆开改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833554" y="4146835"/>
            <a:ext cx="6603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P17 — 18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7922" y="4507037"/>
            <a:ext cx="8108156" cy="473943"/>
          </a:xfrm>
          <a:prstGeom prst="roundRect">
            <a:avLst>
              <a:gd name="adj" fmla="val 10049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50081" y="4651139"/>
            <a:ext cx="54864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spc="29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463" dirty="0"/>
          </a:p>
        </p:txBody>
      </p:sp>
      <p:sp>
        <p:nvSpPr>
          <p:cNvPr id="39" name="Text 36"/>
          <p:cNvSpPr/>
          <p:nvPr/>
        </p:nvSpPr>
        <p:spPr>
          <a:xfrm>
            <a:off x="1135856" y="4589190"/>
            <a:ext cx="7358063" cy="158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spc="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956" dirty="0"/>
          </a:p>
        </p:txBody>
      </p:sp>
      <p:sp>
        <p:nvSpPr>
          <p:cNvPr id="40" name="Text 37"/>
          <p:cNvSpPr/>
          <p:nvPr/>
        </p:nvSpPr>
        <p:spPr>
          <a:xfrm>
            <a:off x="1135856" y="4775597"/>
            <a:ext cx="71206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不做真实使用必有偏差 · 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</a:t>
            </a:r>
            <a:pPr algn="l" indent="0" marL="0">
              <a:lnSpc>
                <a:spcPts val="970"/>
              </a:lnSpc>
              <a:buNone/>
            </a:pPr>
            <a:r>
              <a:rPr lang="en-US" sz="700" spc="13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尽早给用户用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7833554" y="4685072"/>
            <a:ext cx="6603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P19 — 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15145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3215357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INTRO</a:t>
            </a:r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为什么做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32247"/>
            <a:ext cx="862965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8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THIS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017984"/>
            <a:ext cx="8629650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spc="-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</a:t>
            </a:r>
            <a:endParaRPr lang="en-US" sz="247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779463"/>
            <a:ext cx="3886200" cy="11751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7922" y="1783035"/>
            <a:ext cx="3879056" cy="1168003"/>
          </a:xfrm>
          <a:prstGeom prst="roundRect">
            <a:avLst>
              <a:gd name="adj" fmla="val 4893"/>
            </a:avLst>
          </a:prstGeom>
          <a:noFill/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21519" y="1986632"/>
            <a:ext cx="34718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74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 点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721519" y="2322388"/>
            <a:ext cx="3471863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痛点池里，选了一个相对传统但仍真实的需求——</a:t>
            </a:r>
            <a:pPr algn="l" indent="0" marL="0">
              <a:lnSpc>
                <a:spcPts val="167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pPr algn="l" indent="0" marL="0">
              <a:lnSpc>
                <a:spcPts val="167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策划要抠图，又希望数据不出本机。</a:t>
            </a:r>
            <a:endParaRPr lang="en-US" sz="956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779463"/>
            <a:ext cx="3886200" cy="11751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47022" y="1783035"/>
            <a:ext cx="3879056" cy="1168003"/>
          </a:xfrm>
          <a:prstGeom prst="roundRect">
            <a:avLst>
              <a:gd name="adj" fmla="val 4893"/>
            </a:avLst>
          </a:prstGeom>
          <a:noFill/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950619" y="1986632"/>
            <a:ext cx="34718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74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 行 性</a:t>
            </a:r>
            <a:endParaRPr lang="en-US" sz="1238" dirty="0"/>
          </a:p>
        </p:txBody>
      </p:sp>
      <p:sp>
        <p:nvSpPr>
          <p:cNvPr id="15" name="Text 11"/>
          <p:cNvSpPr/>
          <p:nvPr/>
        </p:nvSpPr>
        <p:spPr>
          <a:xfrm>
            <a:off x="4950619" y="2322388"/>
            <a:ext cx="3471863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记得 </a:t>
            </a:r>
            <a:pPr algn="l" indent="0" marL="0">
              <a:lnSpc>
                <a:spcPts val="167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Meta</a:t>
            </a:r>
            <a:pPr algn="l" indent="0" marL="0">
              <a:lnSpc>
                <a:spcPts val="167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开源的 </a:t>
            </a:r>
            <a:pPr algn="l" indent="0" marL="0">
              <a:lnSpc>
                <a:spcPts val="167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</a:t>
            </a:r>
            <a:pPr algn="l" indent="0" marL="0">
              <a:lnSpc>
                <a:spcPts val="167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，调研后定边界——一键直出走现成主体分割；点选 / 框选再靠交互式分割。不把自己做成视觉套件。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514350" y="3347517"/>
            <a:ext cx="81153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788" i="1" spc="8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入场印象是 </a:t>
            </a:r>
            <a:pPr algn="l" indent="0" marL="0">
              <a:lnSpc>
                <a:spcPts val="1260"/>
              </a:lnSpc>
              <a:buNone/>
            </a:pPr>
            <a:r>
              <a:rPr lang="en-US" sz="788" i="1" spc="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</a:t>
            </a:r>
            <a:pPr algn="l" indent="0" marL="0">
              <a:lnSpc>
                <a:spcPts val="1260"/>
              </a:lnSpc>
              <a:buNone/>
            </a:pPr>
            <a:r>
              <a:rPr lang="en-US" sz="788" i="1" spc="8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；落地选型按「自动直出 / 可控选区」拆开——这是调研收敛，不是领域综述。</a:t>
            </a:r>
            <a:endParaRPr lang="en-US" sz="7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485900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INTRO</a:t>
            </a:r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工具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80914"/>
            <a:ext cx="5828791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TOOL LOOKS LIKE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041648"/>
            <a:ext cx="4938781" cy="333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025" spc="-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本地上传一张图</a:t>
            </a:r>
            <a:pPr algn="l" indent="0" marL="0">
              <a:lnSpc>
                <a:spcPts val="2430"/>
              </a:lnSpc>
              <a:buNone/>
            </a:pPr>
            <a:r>
              <a:rPr lang="en-US" sz="2025" spc="-10" kern="0" dirty="0">
                <a:solidFill>
                  <a:srgbClr val="E8B86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</a:t>
            </a:r>
            <a:pPr algn="l" indent="0" marL="0">
              <a:lnSpc>
                <a:spcPts val="2430"/>
              </a:lnSpc>
              <a:buNone/>
            </a:pPr>
            <a:r>
              <a:rPr lang="en-US" sz="2025" spc="-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得到抠图结果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5446551" y="819445"/>
            <a:ext cx="1143670" cy="322069"/>
          </a:xfrm>
          <a:prstGeom prst="roundRect">
            <a:avLst>
              <a:gd name="adj" fmla="val 1478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53708" y="92333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649519" y="910828"/>
            <a:ext cx="90918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自动识别主体直出</a:t>
            </a:r>
            <a:endParaRPr lang="en-US" sz="731" dirty="0"/>
          </a:p>
        </p:txBody>
      </p:sp>
      <p:sp>
        <p:nvSpPr>
          <p:cNvPr id="10" name="Text 8"/>
          <p:cNvSpPr/>
          <p:nvPr/>
        </p:nvSpPr>
        <p:spPr>
          <a:xfrm>
            <a:off x="6661658" y="819445"/>
            <a:ext cx="1131838" cy="322069"/>
          </a:xfrm>
          <a:prstGeom prst="roundRect">
            <a:avLst>
              <a:gd name="adj" fmla="val 1478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68815" y="92333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858162" y="910828"/>
            <a:ext cx="9102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自定义框选 / 点选</a:t>
            </a:r>
            <a:endParaRPr lang="en-US" sz="731" dirty="0"/>
          </a:p>
        </p:txBody>
      </p:sp>
      <p:sp>
        <p:nvSpPr>
          <p:cNvPr id="13" name="Text 11"/>
          <p:cNvSpPr/>
          <p:nvPr/>
        </p:nvSpPr>
        <p:spPr>
          <a:xfrm>
            <a:off x="7864934" y="819445"/>
            <a:ext cx="764716" cy="322069"/>
          </a:xfrm>
          <a:prstGeom prst="roundRect">
            <a:avLst>
              <a:gd name="adj" fmla="val 1478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72090" y="92333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097595" y="910828"/>
            <a:ext cx="47084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边缘修复</a:t>
            </a:r>
            <a:endParaRPr lang="en-US" sz="731" dirty="0"/>
          </a:p>
        </p:txBody>
      </p:sp>
      <p:sp>
        <p:nvSpPr>
          <p:cNvPr id="16" name="Text 14"/>
          <p:cNvSpPr/>
          <p:nvPr/>
        </p:nvSpPr>
        <p:spPr>
          <a:xfrm>
            <a:off x="8186961" y="1214438"/>
            <a:ext cx="62267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URL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59227" y="1371600"/>
            <a:ext cx="25204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-7" kern="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https://idreamsky.feishu.cn/wiki/Eo2OwtuXGiw33ekhjyvcBWD7nuf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8536781" y="1382316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14" dirty="0"/>
          </a:p>
        </p:txBody>
      </p:sp>
      <p:sp>
        <p:nvSpPr>
          <p:cNvPr id="19" name="Text 17"/>
          <p:cNvSpPr/>
          <p:nvPr/>
        </p:nvSpPr>
        <p:spPr>
          <a:xfrm>
            <a:off x="517922" y="1696641"/>
            <a:ext cx="8108156" cy="2346722"/>
          </a:xfrm>
          <a:prstGeom prst="roundRect">
            <a:avLst>
              <a:gd name="adj" fmla="val 3247"/>
            </a:avLst>
          </a:prstGeom>
          <a:solidFill>
            <a:srgbClr val="161A21"/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7219" y="1785938"/>
            <a:ext cx="769381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700" spc="9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</a:t>
            </a:r>
            <a:pPr algn="l" indent="0" marL="0">
              <a:lnSpc>
                <a:spcPts val="759"/>
              </a:lnSpc>
              <a:buNone/>
            </a:pPr>
            <a:r>
              <a:rPr lang="en-US" sz="700" spc="9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59"/>
              </a:lnSpc>
              <a:buNone/>
            </a:pPr>
            <a:r>
              <a:rPr lang="en-US" sz="700" spc="9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SCREENSHOT</a:t>
            </a:r>
            <a:pPr algn="l" indent="0" marL="0">
              <a:lnSpc>
                <a:spcPts val="759"/>
              </a:lnSpc>
              <a:buNone/>
            </a:pPr>
            <a:r>
              <a:rPr lang="en-US" sz="700" spc="9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工具页面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315325" y="1809155"/>
            <a:ext cx="50006" cy="50006"/>
          </a:xfrm>
          <a:prstGeom prst="ellipse">
            <a:avLst/>
          </a:prstGeom>
          <a:solidFill>
            <a:srgbClr val="F5F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01050" y="1809155"/>
            <a:ext cx="50006" cy="50006"/>
          </a:xfrm>
          <a:prstGeom prst="ellipse">
            <a:avLst/>
          </a:prstGeom>
          <a:solidFill>
            <a:srgbClr val="F5F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86775" y="1809155"/>
            <a:ext cx="50006" cy="50006"/>
          </a:xfrm>
          <a:prstGeom prst="ellipse">
            <a:avLst/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0" descr="/tmp/h2p-fit-1785219227206-yzzq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219" y="1953816"/>
            <a:ext cx="7929563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08001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2247"/>
            <a:ext cx="566969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108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</a:t>
            </a:r>
            <a:pPr algn="l" indent="0" marL="0">
              <a:lnSpc>
                <a:spcPts val="1013"/>
              </a:lnSpc>
              <a:buNone/>
            </a:pPr>
            <a:r>
              <a:rPr lang="en-US" sz="700" spc="108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定边界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14350" y="1017984"/>
            <a:ext cx="6754286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spc="-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514350" y="1708026"/>
            <a:ext cx="6839783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514350" y="1900907"/>
            <a:ext cx="4616854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扫全再收敛——这里最该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boil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ocean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4350" y="2240905"/>
            <a:ext cx="6839783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514350" y="2433786"/>
            <a:ext cx="4274865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用哪套调研工具 /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；重型流程（如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gstack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superpowers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调研组件）会加复杂度，不是必选项。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4350" y="2956620"/>
            <a:ext cx="6839783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514350" y="3149501"/>
            <a:ext cx="4616854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按自己顺手的方式扫全即可，收成「做什么 / 不做什么」。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" y="3518074"/>
            <a:ext cx="427486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14350" y="3735958"/>
            <a:ext cx="4616854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我用网页会话：提纲 → 铺开 → 对比，定下本工具边界：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514350" y="3984203"/>
            <a:ext cx="4274865" cy="73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60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做：本地离线（数据不出本机）；业界常见的自动识别主体直出 + 自定义框选 / 点选；可打包分发</a:t>
            </a:r>
            <a:endParaRPr lang="en-US" sz="956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60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不做：云端上传；做成全能修图套件；调研流程绑死重型 </a:t>
            </a:r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135687" y="835819"/>
            <a:ext cx="3490392" cy="3789759"/>
          </a:xfrm>
          <a:prstGeom prst="roundRect">
            <a:avLst>
              <a:gd name="adj" fmla="val 163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0" descr="/tmp/h2p-fit-1785219224214-y979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7846" y="967978"/>
            <a:ext cx="3226073" cy="329684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10497" y="4364831"/>
            <a:ext cx="9407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700" i="1" spc="14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调研边界：做 / 不做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66232" y="1547961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自回归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7922" y="835819"/>
            <a:ext cx="3101839" cy="3789759"/>
          </a:xfrm>
          <a:prstGeom prst="roundRect">
            <a:avLst>
              <a:gd name="adj" fmla="val 1842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h2p-fit-1785219225930-ncf0b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81" y="967978"/>
            <a:ext cx="2837520" cy="32968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3291" y="4364831"/>
            <a:ext cx="12909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700" i="1" spc="14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推理解码闭环 · 后面吃前面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966232" y="832247"/>
            <a:ext cx="517776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108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</a:t>
            </a:r>
            <a:pPr algn="l" indent="0" marL="0">
              <a:lnSpc>
                <a:spcPts val="1013"/>
              </a:lnSpc>
              <a:buNone/>
            </a:pPr>
            <a:r>
              <a:rPr lang="en-US" sz="700" spc="108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机制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966232" y="1017984"/>
            <a:ext cx="5177768" cy="42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spc="-13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自回归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966232" y="1740843"/>
            <a:ext cx="5177768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788" dirty="0"/>
          </a:p>
        </p:txBody>
      </p:sp>
      <p:sp>
        <p:nvSpPr>
          <p:cNvPr id="11" name="Text 8"/>
          <p:cNvSpPr/>
          <p:nvPr/>
        </p:nvSpPr>
        <p:spPr>
          <a:xfrm>
            <a:off x="3966232" y="1948011"/>
            <a:ext cx="4896589" cy="2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 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续写；后面条件于前面。</a:t>
            </a:r>
            <a:endParaRPr lang="en-US" sz="956" dirty="0"/>
          </a:p>
        </p:txBody>
      </p:sp>
      <p:sp>
        <p:nvSpPr>
          <p:cNvPr id="12" name="Text 9"/>
          <p:cNvSpPr/>
          <p:nvPr/>
        </p:nvSpPr>
        <p:spPr>
          <a:xfrm>
            <a:off x="3966232" y="2311561"/>
            <a:ext cx="5177768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直接后果</a:t>
            </a:r>
            <a:endParaRPr lang="en-US" sz="788" dirty="0"/>
          </a:p>
        </p:txBody>
      </p:sp>
      <p:sp>
        <p:nvSpPr>
          <p:cNvPr id="13" name="Text 10"/>
          <p:cNvSpPr/>
          <p:nvPr/>
        </p:nvSpPr>
        <p:spPr>
          <a:xfrm>
            <a:off x="3966232" y="2518730"/>
            <a:ext cx="4663418" cy="44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早错会滚雪球；「检查自己」也是在既定前文上续写，易自圆其说；前文里有正确锚点，也会顺着续下去。</a:t>
            </a:r>
            <a:endParaRPr lang="en-US" sz="956" dirty="0"/>
          </a:p>
        </p:txBody>
      </p:sp>
      <p:sp>
        <p:nvSpPr>
          <p:cNvPr id="14" name="Text 11"/>
          <p:cNvSpPr/>
          <p:nvPr/>
        </p:nvSpPr>
        <p:spPr>
          <a:xfrm>
            <a:off x="3966232" y="3088667"/>
            <a:ext cx="5177768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为什么大概率不变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3966232" y="3295836"/>
            <a:ext cx="4663418" cy="44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只要还是 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next-token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生成，条件依赖就在——换模型、换 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壳、加长上下文，变的是窗口与界面，不是「后面吃前面」这件事。</a:t>
            </a:r>
            <a:endParaRPr lang="en-US" sz="956" dirty="0"/>
          </a:p>
        </p:txBody>
      </p:sp>
      <p:sp>
        <p:nvSpPr>
          <p:cNvPr id="16" name="Text 13"/>
          <p:cNvSpPr/>
          <p:nvPr/>
        </p:nvSpPr>
        <p:spPr>
          <a:xfrm>
            <a:off x="3966232" y="3865773"/>
            <a:ext cx="5177768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spc="15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下一页起：一页一条推论。</a:t>
            </a:r>
            <a:endParaRPr lang="en-US" sz="73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56221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2106290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锚点续写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98327"/>
            <a:ext cx="1847954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</a:t>
            </a:r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← 自回归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4350" y="1059061"/>
            <a:ext cx="8629650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spc="-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锚点续写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514350" y="1691953"/>
            <a:ext cx="7715250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给对的锚点，续写也更容易对——成熟项目 / 已跑通路径放进前文，比凭空让它设计稳得多。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514350" y="2252737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7922" y="2474193"/>
            <a:ext cx="2602669" cy="1564481"/>
          </a:xfrm>
          <a:prstGeom prst="roundRect">
            <a:avLst>
              <a:gd name="adj" fmla="val 3653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2944" y="2649215"/>
            <a:ext cx="2252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2944" y="2899246"/>
            <a:ext cx="225262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去色边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692944" y="3177853"/>
            <a:ext cx="2252625" cy="36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空聊「你设计一套」不成 → 拉相关开源进上下文当锚点，再按本仓库结构改写落地。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3270610" y="2474193"/>
            <a:ext cx="2602669" cy="1564481"/>
          </a:xfrm>
          <a:prstGeom prst="roundRect">
            <a:avLst>
              <a:gd name="adj" fmla="val 3653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45632" y="2649215"/>
            <a:ext cx="2252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45632" y="2899246"/>
            <a:ext cx="225262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3445632" y="3177853"/>
            <a:ext cx="2252625" cy="55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弱模型自己摸索抽偏 → 强模型先跑通一条带验证的路径留在前文 / 仓库里 → 再换回弱模型，是在续这条锚点，不是从头发明。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6023297" y="2474193"/>
            <a:ext cx="2602781" cy="1564481"/>
          </a:xfrm>
          <a:prstGeom prst="roundRect">
            <a:avLst>
              <a:gd name="adj" fmla="val 3653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98319" y="2649215"/>
            <a:ext cx="2252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98319" y="2899246"/>
            <a:ext cx="225273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常驻短锚点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6198319" y="3177853"/>
            <a:ext cx="2252737" cy="55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端口、别碰打包等写进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短规则 / 项目约定——每次开干自动进条件，等于默认带着正确前缀开写。</a:t>
            </a:r>
            <a:endParaRPr lang="en-US" sz="7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18717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2093788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一次一件事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32247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</a:t>
            </a:r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← 自回归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4350" y="1035844"/>
            <a:ext cx="8629650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spc="2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一次一件事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514350" y="1654448"/>
            <a:ext cx="8101013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一次只续一个可验收目标——多事混着续容易越写越歪；少逐步遥控往前文塞噪声。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514350" y="2240235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4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7922" y="2461692"/>
            <a:ext cx="2612157" cy="1378855"/>
          </a:xfrm>
          <a:prstGeom prst="roundRect">
            <a:avLst>
              <a:gd name="adj" fmla="val 4145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2622426"/>
            <a:ext cx="2290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8656" y="2847454"/>
            <a:ext cx="2290688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拆开做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678656" y="3137446"/>
            <a:ext cx="2290688" cy="38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816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一件事里塞「分割 + 修边 + 打包」→ 改乱、漏约束 → 拆开做。</a:t>
            </a:r>
            <a:endParaRPr lang="en-US" sz="816" dirty="0"/>
          </a:p>
        </p:txBody>
      </p:sp>
      <p:sp>
        <p:nvSpPr>
          <p:cNvPr id="14" name="Text 12"/>
          <p:cNvSpPr/>
          <p:nvPr/>
        </p:nvSpPr>
        <p:spPr>
          <a:xfrm>
            <a:off x="3265810" y="2461692"/>
            <a:ext cx="2612268" cy="1378855"/>
          </a:xfrm>
          <a:prstGeom prst="roundRect">
            <a:avLst>
              <a:gd name="adj" fmla="val 4145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26544" y="2622426"/>
            <a:ext cx="2290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6544" y="2847454"/>
            <a:ext cx="2290800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Goal</a:t>
            </a:r>
            <a:pPr algn="l" indent="0" marL="0">
              <a:lnSpc>
                <a:spcPts val="1609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写清楚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3426544" y="3137446"/>
            <a:ext cx="2290800" cy="38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816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修布局：</a:t>
            </a:r>
            <a:pPr algn="l" indent="0" marL="0">
              <a:lnSpc>
                <a:spcPts val="1387"/>
              </a:lnSpc>
              <a:buNone/>
            </a:pPr>
            <a:r>
              <a:rPr lang="en-US" sz="816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Goal</a:t>
            </a:r>
            <a:pPr algn="l" indent="0" marL="0">
              <a:lnSpc>
                <a:spcPts val="1387"/>
              </a:lnSpc>
              <a:buNone/>
            </a:pPr>
            <a:r>
              <a:rPr lang="en-US" sz="816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写清要达成什么 + 怎么验收，比一步步遥控改哪一段更快更稳。</a:t>
            </a:r>
            <a:endParaRPr lang="en-US" sz="816" dirty="0"/>
          </a:p>
        </p:txBody>
      </p:sp>
      <p:sp>
        <p:nvSpPr>
          <p:cNvPr id="18" name="Text 16"/>
          <p:cNvSpPr/>
          <p:nvPr/>
        </p:nvSpPr>
        <p:spPr>
          <a:xfrm>
            <a:off x="6013810" y="2461692"/>
            <a:ext cx="2612157" cy="1378855"/>
          </a:xfrm>
          <a:prstGeom prst="roundRect">
            <a:avLst>
              <a:gd name="adj" fmla="val 4145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74544" y="2622426"/>
            <a:ext cx="2290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74544" y="2847454"/>
            <a:ext cx="2290688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探路与动手分模型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174544" y="3137446"/>
            <a:ext cx="2290688" cy="528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816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</a:t>
            </a:r>
            <a:pPr algn="l" indent="0" marL="0">
              <a:lnSpc>
                <a:spcPts val="1387"/>
              </a:lnSpc>
              <a:buNone/>
            </a:pPr>
            <a:r>
              <a:rPr lang="en-US" sz="816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</a:t>
            </a:r>
            <a:pPr algn="l" indent="0" marL="0">
              <a:lnSpc>
                <a:spcPts val="1387"/>
              </a:lnSpc>
              <a:buNone/>
            </a:pPr>
            <a:r>
              <a:rPr lang="en-US" sz="816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：先用便宜模型多轮问「还缺什么信息」；信息够了再换强模型修——探路和动手拆开，也更省。</a:t>
            </a:r>
            <a:endParaRPr lang="en-US" sz="81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04429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2258095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外部验真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32247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</a:t>
            </a:r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← 自回归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4350" y="1021556"/>
            <a:ext cx="8629650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spc="2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外部验真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514350" y="1625873"/>
            <a:ext cx="7715250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别让写代码的那条对话自己当考官——换窗外的来验（新会话、另一模型 / </a:t>
            </a:r>
            <a:pPr algn="l" indent="0" marL="0">
              <a:lnSpc>
                <a:spcPts val="1856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Goal</a:t>
            </a:r>
            <a:pPr algn="l" indent="0" marL="0">
              <a:lnSpc>
                <a:spcPts val="1856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小裁判、脚本、人眼）；验法越笨越好，别整「你再反思一下」。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514350" y="2390254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4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7922" y="2597423"/>
            <a:ext cx="2612157" cy="1294358"/>
          </a:xfrm>
          <a:prstGeom prst="roundRect">
            <a:avLst>
              <a:gd name="adj" fmla="val 4415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4369" y="2743870"/>
            <a:ext cx="2319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4369" y="2954610"/>
            <a:ext cx="2319263" cy="21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81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审暂存区</a:t>
            </a:r>
            <a:endParaRPr lang="en-US" sz="1181" dirty="0"/>
          </a:p>
        </p:txBody>
      </p:sp>
      <p:sp>
        <p:nvSpPr>
          <p:cNvPr id="13" name="Text 11"/>
          <p:cNvSpPr/>
          <p:nvPr/>
        </p:nvSpPr>
        <p:spPr>
          <a:xfrm>
            <a:off x="664369" y="3221050"/>
            <a:ext cx="2319263" cy="36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改完不在同一窗自评 → 新开会话审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staged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，上下文隔离。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3265810" y="2597423"/>
            <a:ext cx="2612268" cy="1294358"/>
          </a:xfrm>
          <a:prstGeom prst="roundRect">
            <a:avLst>
              <a:gd name="adj" fmla="val 4415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12257" y="2743870"/>
            <a:ext cx="2319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12257" y="2954610"/>
            <a:ext cx="2319375" cy="21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81" spc="12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Goal</a:t>
            </a:r>
            <a:pPr algn="l" indent="0" marL="0">
              <a:lnSpc>
                <a:spcPts val="1536"/>
              </a:lnSpc>
              <a:buNone/>
            </a:pPr>
            <a:r>
              <a:rPr lang="en-US" sz="1181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自动验收</a:t>
            </a:r>
            <a:endParaRPr lang="en-US" sz="1181" dirty="0"/>
          </a:p>
        </p:txBody>
      </p:sp>
      <p:sp>
        <p:nvSpPr>
          <p:cNvPr id="17" name="Text 15"/>
          <p:cNvSpPr/>
          <p:nvPr/>
        </p:nvSpPr>
        <p:spPr>
          <a:xfrm>
            <a:off x="3412257" y="3221050"/>
            <a:ext cx="2319375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想并行干别的：先让模型写出验证脚本，再开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Goal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（小模型裁判 + 自动跑验收）盯到完成——墙钟时间往往更长，但不占用我手动点验，可以去干别的事。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6013810" y="2597423"/>
            <a:ext cx="2612157" cy="1294358"/>
          </a:xfrm>
          <a:prstGeom prst="roundRect">
            <a:avLst>
              <a:gd name="adj" fmla="val 4415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60257" y="2743870"/>
            <a:ext cx="2319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60257" y="2954610"/>
            <a:ext cx="2319263" cy="21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81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本项目同构</a:t>
            </a:r>
            <a:endParaRPr lang="en-US" sz="1181" dirty="0"/>
          </a:p>
        </p:txBody>
      </p:sp>
      <p:sp>
        <p:nvSpPr>
          <p:cNvPr id="21" name="Text 19"/>
          <p:cNvSpPr/>
          <p:nvPr/>
        </p:nvSpPr>
        <p:spPr>
          <a:xfrm>
            <a:off x="6160257" y="3221050"/>
            <a:ext cx="2319263" cy="36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粘贴靠跑页面钉死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Gradio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行为；两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布局靠可跑脚本验收。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514350" y="4023940"/>
            <a:ext cx="6429375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759" i="1" spc="8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强度大致：环境事实 ≥ 脚本 ≥ </a:t>
            </a:r>
            <a:pPr algn="l" indent="0" marL="0">
              <a:lnSpc>
                <a:spcPts val="1215"/>
              </a:lnSpc>
              <a:buNone/>
            </a:pPr>
            <a:r>
              <a:rPr lang="en-US" sz="759" i="1" spc="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Goal</a:t>
            </a:r>
            <a:pPr algn="l" indent="0" marL="0">
              <a:lnSpc>
                <a:spcPts val="1215"/>
              </a:lnSpc>
              <a:buNone/>
            </a:pPr>
            <a:r>
              <a:rPr lang="en-US" sz="759" i="1" spc="8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小模型裁判 ≥ 同模型新会话审 </a:t>
            </a:r>
            <a:pPr algn="l" indent="0" marL="0">
              <a:lnSpc>
                <a:spcPts val="1215"/>
              </a:lnSpc>
              <a:buNone/>
            </a:pPr>
            <a:r>
              <a:rPr lang="en-US" sz="759" i="1" spc="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</a:t>
            </a:r>
            <a:pPr algn="l" indent="0" marL="0">
              <a:lnSpc>
                <a:spcPts val="1215"/>
              </a:lnSpc>
              <a:buNone/>
            </a:pPr>
            <a:r>
              <a:rPr lang="en-US" sz="759" i="1" spc="8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75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16596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pic>
        <p:nvPicPr>
          <p:cNvPr id="3" name="Image 0" descr="/tmp/h2p-svg-1785219233364-b43d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756" y="1796653"/>
            <a:ext cx="1143000" cy="642938"/>
          </a:xfrm>
          <a:prstGeom prst="rect">
            <a:avLst/>
          </a:prstGeom>
        </p:spPr>
      </p:pic>
      <p:pic>
        <p:nvPicPr>
          <p:cNvPr id="4" name="Image 1" descr="/tmp/h2p-svg-1785219233364-tpokn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219" y="1796653"/>
            <a:ext cx="1143000" cy="6429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注意力不均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21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14350" y="832247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149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</a:t>
            </a:r>
            <a:pPr algn="l" indent="0" marL="0">
              <a:lnSpc>
                <a:spcPts val="1013"/>
              </a:lnSpc>
              <a:buNone/>
            </a:pPr>
            <a:r>
              <a:rPr lang="en-US" sz="700" spc="149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机制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14350" y="1017984"/>
            <a:ext cx="8629650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27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注意力不均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657225" y="1780915"/>
            <a:ext cx="8486775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788" dirty="0"/>
          </a:p>
        </p:txBody>
      </p:sp>
      <p:sp>
        <p:nvSpPr>
          <p:cNvPr id="10" name="Text 6"/>
          <p:cNvSpPr/>
          <p:nvPr/>
        </p:nvSpPr>
        <p:spPr>
          <a:xfrm>
            <a:off x="657225" y="1988083"/>
            <a:ext cx="6635115" cy="23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进了上下文 ≠ 被同等用到；长上下文里常见两头强、中间弱（近似 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型）。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657225" y="2406662"/>
            <a:ext cx="8486775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788" dirty="0"/>
          </a:p>
        </p:txBody>
      </p:sp>
      <p:sp>
        <p:nvSpPr>
          <p:cNvPr id="12" name="Text 8"/>
          <p:cNvSpPr/>
          <p:nvPr/>
        </p:nvSpPr>
        <p:spPr>
          <a:xfrm>
            <a:off x="657225" y="2613831"/>
            <a:ext cx="54864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主要是实验文献里的经验现象（如 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Lost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Middle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），不是「注意力必然 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型」的理论证明；具体形状随模型 / 位置编码会变。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657225" y="3213906"/>
            <a:ext cx="769181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为什么仍值得当原则用</a:t>
            </a:r>
            <a:endParaRPr lang="en-US" sz="788" dirty="0"/>
          </a:p>
        </p:txBody>
      </p:sp>
      <p:sp>
        <p:nvSpPr>
          <p:cNvPr id="14" name="Text 10"/>
          <p:cNvSpPr/>
          <p:nvPr/>
        </p:nvSpPr>
        <p:spPr>
          <a:xfrm>
            <a:off x="657225" y="3421075"/>
            <a:ext cx="6143625" cy="23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只要还靠注意力读长上下文，「并非均匀用到每一段」就反复出现；用的是不均匀性，不是把 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</a:t>
            </a:r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型当公理。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6194186" y="1643063"/>
            <a:ext cx="85614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600" spc="7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长上下文 · </a:t>
            </a:r>
            <a:pPr algn="ctr" indent="0" marL="0">
              <a:lnSpc>
                <a:spcPts val="759"/>
              </a:lnSpc>
              <a:buNone/>
            </a:pPr>
            <a:r>
              <a:rPr lang="en-US" sz="600" spc="7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</a:t>
            </a:r>
            <a:pPr algn="ctr" indent="0" marL="0">
              <a:lnSpc>
                <a:spcPts val="759"/>
              </a:lnSpc>
              <a:buNone/>
            </a:pPr>
            <a:r>
              <a:rPr lang="en-US" sz="600" spc="7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型成立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6293766" y="2482453"/>
            <a:ext cx="656981" cy="134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两头强 · 中间弱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7312325" y="1643063"/>
            <a:ext cx="144878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600" spc="7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短上下文 / 检索训练后 · </a:t>
            </a:r>
            <a:pPr algn="ctr" indent="0" marL="0">
              <a:lnSpc>
                <a:spcPts val="759"/>
              </a:lnSpc>
              <a:buNone/>
            </a:pPr>
            <a:r>
              <a:rPr lang="en-US" sz="600" spc="7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</a:t>
            </a:r>
            <a:pPr algn="ctr" indent="0" marL="0">
              <a:lnSpc>
                <a:spcPts val="759"/>
              </a:lnSpc>
              <a:buNone/>
            </a:pPr>
            <a:r>
              <a:rPr lang="en-US" sz="600" spc="7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型失效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7618312" y="2482453"/>
            <a:ext cx="836813" cy="134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接近平直 · 全程可读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5699570" y="2682478"/>
            <a:ext cx="311696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i="1" spc="12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用的是</a:t>
            </a:r>
            <a:pPr algn="ctr" indent="0" marL="0">
              <a:lnSpc>
                <a:spcPts val="928"/>
              </a:lnSpc>
              <a:buNone/>
            </a:pPr>
            <a:r>
              <a:rPr lang="en-US" sz="700" i="1" spc="12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不均匀性</a:t>
            </a:r>
            <a:pPr algn="ctr" indent="0" marL="0">
              <a:lnSpc>
                <a:spcPts val="928"/>
              </a:lnSpc>
              <a:buNone/>
            </a:pPr>
            <a:r>
              <a:rPr lang="en-US" sz="700" i="1" spc="12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，不是把 </a:t>
            </a:r>
            <a:pPr algn="ctr" indent="0" marL="0">
              <a:lnSpc>
                <a:spcPts val="928"/>
              </a:lnSpc>
              <a:buNone/>
            </a:pPr>
            <a:r>
              <a:rPr lang="en-US" sz="700" i="1" spc="12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</a:t>
            </a:r>
            <a:pPr algn="ctr" indent="0" marL="0">
              <a:lnSpc>
                <a:spcPts val="928"/>
              </a:lnSpc>
              <a:buNone/>
            </a:pPr>
            <a:r>
              <a:rPr lang="en-US" sz="700" i="1" spc="12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型当公理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514350" y="3868229"/>
            <a:ext cx="86296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spc="7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下一页：推论。</a:t>
            </a:r>
            <a:endParaRPr lang="en-US" sz="73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18717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2315245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坑写代码旁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32247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</a:t>
            </a:r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← 注意力不均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4350" y="1035844"/>
            <a:ext cx="8629650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spc="2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坑写代码旁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514350" y="1654448"/>
            <a:ext cx="7500938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局部踩坑经验写在相关代码旁——需要才加载；一旦改到这块，注释和代码同屏，比埋在长聊天腰部更不容易丢。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514350" y="2461692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4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7922" y="2697435"/>
            <a:ext cx="3964781" cy="1257970"/>
          </a:xfrm>
          <a:prstGeom prst="roundRect">
            <a:avLst>
              <a:gd name="adj" fmla="val 4543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1519" y="2886745"/>
            <a:ext cx="35575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21519" y="3111773"/>
            <a:ext cx="3557588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粘贴上传那个坑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721519" y="3401764"/>
            <a:ext cx="35575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写进相关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文件后，平时不塞进全局聊天；真改上传时打开文件才带上，很少再走回头路。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4661297" y="2697435"/>
            <a:ext cx="3964781" cy="1257970"/>
          </a:xfrm>
          <a:prstGeom prst="roundRect">
            <a:avLst>
              <a:gd name="adj" fmla="val 4543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64894" y="2886745"/>
            <a:ext cx="35575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64894" y="3111773"/>
            <a:ext cx="3557588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38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文件职责跟着文件走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4864894" y="3401764"/>
            <a:ext cx="35575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文件职责、迭代踩坑跟着文件走：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动到哪一段，就加载哪一段的说明——少靠「我记得哪次聊天说过」，也少在无关任务里被旧坑叙事干扰。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514350" y="4130427"/>
            <a:ext cx="714375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788" i="1" spc="8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需要才加载；加载时又在最新读到的那截里，两头都占优。</a:t>
            </a:r>
            <a:endParaRPr lang="en-US" sz="78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745196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pic>
        <p:nvPicPr>
          <p:cNvPr id="3" name="Image 0" descr="/tmp/h2p-svg-1785219238357-7nxc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958" y="1175147"/>
            <a:ext cx="2571750" cy="1785938"/>
          </a:xfrm>
          <a:prstGeom prst="rect">
            <a:avLst/>
          </a:prstGeom>
        </p:spPr>
      </p:pic>
      <p:pic>
        <p:nvPicPr>
          <p:cNvPr id="4" name="Image 1" descr="/tmp/h2p-svg-1785219238357-375si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58" y="3003947"/>
            <a:ext cx="2571750" cy="6429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分布拟合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21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14350" y="1060847"/>
            <a:ext cx="730118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149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</a:t>
            </a:r>
            <a:pPr algn="l" indent="0" marL="0">
              <a:lnSpc>
                <a:spcPts val="1013"/>
              </a:lnSpc>
              <a:buNone/>
            </a:pPr>
            <a:r>
              <a:rPr lang="en-US" sz="700" spc="149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机制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14350" y="1246584"/>
            <a:ext cx="6751844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27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分布拟合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657225" y="1980940"/>
            <a:ext cx="7772400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788" dirty="0"/>
          </a:p>
        </p:txBody>
      </p:sp>
      <p:sp>
        <p:nvSpPr>
          <p:cNvPr id="10" name="Text 6"/>
          <p:cNvSpPr/>
          <p:nvPr/>
        </p:nvSpPr>
        <p:spPr>
          <a:xfrm>
            <a:off x="657225" y="2188108"/>
            <a:ext cx="4857750" cy="472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训练拟合的是数据上的条件分布，不是唯一标准答案；生成会往分布里概率高的区域靠——常见、通用的解更容易出现。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657225" y="2853817"/>
            <a:ext cx="6606540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为什么大概率不变</a:t>
            </a:r>
            <a:endParaRPr lang="en-US" sz="788" dirty="0"/>
          </a:p>
        </p:txBody>
      </p:sp>
      <p:sp>
        <p:nvSpPr>
          <p:cNvPr id="12" name="Text 8"/>
          <p:cNvSpPr/>
          <p:nvPr/>
        </p:nvSpPr>
        <p:spPr>
          <a:xfrm>
            <a:off x="657225" y="3060985"/>
            <a:ext cx="4857750" cy="472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只要还是按似然 / 交叉熵一类目标学「什么续写常见」，众数偏好就在；换模型、换壳，变的是分布形状，不是变成背题查表。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6906444" y="3718322"/>
            <a:ext cx="1168896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训练拟合 → 众数偏好</a:t>
            </a:r>
            <a:endParaRPr lang="en-US" sz="731" dirty="0"/>
          </a:p>
        </p:txBody>
      </p:sp>
      <p:sp>
        <p:nvSpPr>
          <p:cNvPr id="14" name="Text 10"/>
          <p:cNvSpPr/>
          <p:nvPr/>
        </p:nvSpPr>
        <p:spPr>
          <a:xfrm>
            <a:off x="6859786" y="3900488"/>
            <a:ext cx="122133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12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高频样本塑造了模型分布的峰</a:t>
            </a:r>
            <a:endParaRPr lang="en-US" sz="619" dirty="0"/>
          </a:p>
        </p:txBody>
      </p:sp>
      <p:sp>
        <p:nvSpPr>
          <p:cNvPr id="15" name="Text 11"/>
          <p:cNvSpPr/>
          <p:nvPr/>
        </p:nvSpPr>
        <p:spPr>
          <a:xfrm>
            <a:off x="6855321" y="4261247"/>
            <a:ext cx="134314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74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DISTRIBUTION</a:t>
            </a:r>
            <a:pPr algn="l" indent="0" marL="0">
              <a:lnSpc>
                <a:spcPts val="928"/>
              </a:lnSpc>
              <a:buNone/>
            </a:pPr>
            <a:r>
              <a:rPr lang="en-US" sz="700" spc="74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训练根源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514350" y="4604147"/>
            <a:ext cx="86680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spc="7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下一页：推论。</a:t>
            </a:r>
            <a:endParaRPr lang="en-US" sz="73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17991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1995060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4369" y="3405448"/>
            <a:ext cx="3693319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86313" y="3554016"/>
            <a:ext cx="3693319" cy="0"/>
          </a:xfrm>
          <a:prstGeom prst="line">
            <a:avLst/>
          </a:prstGeom>
          <a:noFill/>
          <a:ln w="7144">
            <a:solidFill>
              <a:srgbClr val="E8B8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不能外包所有思考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4350" y="832247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</a:t>
            </a:r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← 分布拟合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14350" y="1035844"/>
            <a:ext cx="8629650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spc="2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不能外包所有思考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514350" y="1638709"/>
            <a:ext cx="7715250" cy="227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spc="11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浅水区交给模型稳，</a:t>
            </a:r>
            <a:pPr algn="l" indent="0" marL="0">
              <a:lnSpc>
                <a:spcPts val="1657"/>
              </a:lnSpc>
              <a:buNone/>
            </a:pPr>
            <a:r>
              <a:rPr lang="en-US" sz="1069" spc="1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深水区模型会落回「大家都这么做」</a:t>
            </a:r>
            <a:pPr algn="l" indent="0" marL="0">
              <a:lnSpc>
                <a:spcPts val="1657"/>
              </a:lnSpc>
              <a:buNone/>
            </a:pPr>
            <a:r>
              <a:rPr lang="en-US" sz="1069" spc="11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——关键选型自己先想透，再当锚点让模型落地。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514350" y="2112541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4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浅水 </a:t>
            </a:r>
            <a:pPr algn="l" indent="0" marL="0">
              <a:lnSpc>
                <a:spcPts val="928"/>
              </a:lnSpc>
              <a:buNone/>
            </a:pPr>
            <a:r>
              <a:rPr lang="en-US" sz="700" spc="149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pPr algn="l" indent="0" marL="0">
              <a:lnSpc>
                <a:spcPts val="928"/>
              </a:lnSpc>
              <a:buNone/>
            </a:pPr>
            <a:r>
              <a:rPr lang="en-US" sz="700" spc="14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深水 · 谁来主导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17922" y="2333997"/>
            <a:ext cx="3986213" cy="1555775"/>
          </a:xfrm>
          <a:prstGeom prst="roundRect">
            <a:avLst>
              <a:gd name="adj" fmla="val 3673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4369" y="2466156"/>
            <a:ext cx="3693319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700" spc="10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SHALLOW</a:t>
            </a:r>
            <a:pPr algn="l" indent="0" marL="0">
              <a:lnSpc>
                <a:spcPts val="844"/>
              </a:lnSpc>
              <a:buNone/>
            </a:pPr>
            <a:r>
              <a:rPr lang="en-US" sz="700" spc="10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浅水区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64369" y="2630463"/>
            <a:ext cx="369331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常见场景 · 模型稳定做对</a:t>
            </a:r>
            <a:endParaRPr lang="en-US" sz="1069" dirty="0"/>
          </a:p>
        </p:txBody>
      </p:sp>
      <p:sp>
        <p:nvSpPr>
          <p:cNvPr id="15" name="Text 13"/>
          <p:cNvSpPr/>
          <p:nvPr/>
        </p:nvSpPr>
        <p:spPr>
          <a:xfrm>
            <a:off x="664369" y="2878262"/>
            <a:ext cx="3693319" cy="16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31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通用模式、主流用法、标准流程——分布的高频区，模型见过太多次，默认就能写对。</a:t>
            </a:r>
            <a:endParaRPr lang="en-US" sz="731" dirty="0"/>
          </a:p>
        </p:txBody>
      </p:sp>
      <p:sp>
        <p:nvSpPr>
          <p:cNvPr id="16" name="Text 14"/>
          <p:cNvSpPr/>
          <p:nvPr/>
        </p:nvSpPr>
        <p:spPr>
          <a:xfrm>
            <a:off x="664369" y="3101196"/>
            <a:ext cx="563240" cy="212027"/>
          </a:xfrm>
          <a:prstGeom prst="roundRect">
            <a:avLst>
              <a:gd name="adj" fmla="val 1347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4369" y="3112554"/>
            <a:ext cx="5632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270471" y="3101196"/>
            <a:ext cx="593824" cy="212027"/>
          </a:xfrm>
          <a:prstGeom prst="roundRect">
            <a:avLst>
              <a:gd name="adj" fmla="val 1347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47610" y="3112554"/>
            <a:ext cx="6395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组件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07158" y="3101196"/>
            <a:ext cx="550069" cy="212027"/>
          </a:xfrm>
          <a:prstGeom prst="roundRect">
            <a:avLst>
              <a:gd name="adj" fmla="val 1347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904380" y="3112554"/>
            <a:ext cx="5556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主流库用法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64369" y="3401876"/>
            <a:ext cx="3693319" cy="232029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27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放手外包给模型</a:t>
            </a:r>
            <a:endParaRPr lang="en-US" sz="7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6294" y="2330425"/>
            <a:ext cx="3993356" cy="156291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639866" y="2333997"/>
            <a:ext cx="3986213" cy="1555775"/>
          </a:xfrm>
          <a:prstGeom prst="roundRect">
            <a:avLst>
              <a:gd name="adj" fmla="val 3673"/>
            </a:avLst>
          </a:prstGeom>
          <a:noFill/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86313" y="2466156"/>
            <a:ext cx="3693319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700" spc="10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</a:t>
            </a:r>
            <a:pPr algn="l" indent="0" marL="0">
              <a:lnSpc>
                <a:spcPts val="844"/>
              </a:lnSpc>
              <a:buNone/>
            </a:pPr>
            <a:r>
              <a:rPr lang="en-US" sz="700" spc="10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深水区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786313" y="2630463"/>
            <a:ext cx="369331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特异化场景 · 模型落回大众解</a:t>
            </a:r>
            <a:endParaRPr lang="en-US" sz="1069" dirty="0"/>
          </a:p>
        </p:txBody>
      </p:sp>
      <p:sp>
        <p:nvSpPr>
          <p:cNvPr id="27" name="Text 24"/>
          <p:cNvSpPr/>
          <p:nvPr/>
        </p:nvSpPr>
        <p:spPr>
          <a:xfrm>
            <a:off x="4786313" y="2878262"/>
            <a:ext cx="3693319" cy="32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31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产品形态特有的边缘处理、反直觉的解法、领域 </a:t>
            </a:r>
            <a:pPr algn="l" indent="0" marL="0">
              <a:lnSpc>
                <a:spcPts val="1170"/>
              </a:lnSpc>
              <a:buNone/>
            </a:pPr>
            <a:r>
              <a:rPr lang="en-US" sz="731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Know-How</a:t>
            </a:r>
            <a:pPr algn="l" indent="0" marL="0">
              <a:lnSpc>
                <a:spcPts val="1170"/>
              </a:lnSpc>
              <a:buNone/>
            </a:pPr>
            <a:r>
              <a:rPr lang="en-US" sz="731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——分布的低频区，模型默认往「大家都这么做」靠，但常见解往往不对。</a:t>
            </a:r>
            <a:endParaRPr lang="en-US" sz="731" dirty="0"/>
          </a:p>
        </p:txBody>
      </p:sp>
      <p:sp>
        <p:nvSpPr>
          <p:cNvPr id="28" name="Text 25"/>
          <p:cNvSpPr/>
          <p:nvPr/>
        </p:nvSpPr>
        <p:spPr>
          <a:xfrm>
            <a:off x="4786313" y="3249763"/>
            <a:ext cx="471488" cy="212027"/>
          </a:xfrm>
          <a:prstGeom prst="roundRect">
            <a:avLst>
              <a:gd name="adj" fmla="val 1347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786313" y="3261122"/>
            <a:ext cx="4714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边缘特化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300663" y="3249763"/>
            <a:ext cx="550069" cy="212027"/>
          </a:xfrm>
          <a:prstGeom prst="roundRect">
            <a:avLst>
              <a:gd name="adj" fmla="val 1347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297884" y="3261122"/>
            <a:ext cx="5556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反直觉解法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893594" y="3249763"/>
            <a:ext cx="716161" cy="212027"/>
          </a:xfrm>
          <a:prstGeom prst="roundRect">
            <a:avLst>
              <a:gd name="adj" fmla="val 1347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891514" y="3261122"/>
            <a:ext cx="72032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 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Know-How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786313" y="3550444"/>
            <a:ext cx="3693319" cy="207169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27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人想透，再当锚点交模型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14350" y="4054078"/>
            <a:ext cx="100624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700" spc="9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 · 去色边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4350" y="4189809"/>
            <a:ext cx="714375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同一问题</a:t>
            </a:r>
            <a:endParaRPr lang="en-US" sz="956" dirty="0"/>
          </a:p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两种走法</a:t>
            </a:r>
            <a:endParaRPr lang="en-US" sz="956" dirty="0"/>
          </a:p>
        </p:txBody>
      </p:sp>
      <p:sp>
        <p:nvSpPr>
          <p:cNvPr id="37" name="Text 34"/>
          <p:cNvSpPr/>
          <p:nvPr/>
        </p:nvSpPr>
        <p:spPr>
          <a:xfrm>
            <a:off x="1346597" y="3982641"/>
            <a:ext cx="3579019" cy="642938"/>
          </a:xfrm>
          <a:prstGeom prst="roundRect">
            <a:avLst>
              <a:gd name="adj" fmla="val 740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1464469" y="4086225"/>
            <a:ext cx="33432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700" spc="9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pPr algn="l" indent="0" marL="0">
              <a:lnSpc>
                <a:spcPts val="759"/>
              </a:lnSpc>
              <a:buNone/>
            </a:pPr>
            <a:r>
              <a:rPr lang="en-US" sz="700" spc="9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模型默认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464469" y="4225528"/>
            <a:ext cx="334327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全局优化</a:t>
            </a:r>
            <a:endParaRPr lang="en-US" sz="844" dirty="0"/>
          </a:p>
        </p:txBody>
      </p:sp>
      <p:sp>
        <p:nvSpPr>
          <p:cNvPr id="40" name="Text 37"/>
          <p:cNvSpPr/>
          <p:nvPr/>
        </p:nvSpPr>
        <p:spPr>
          <a:xfrm>
            <a:off x="1464469" y="4404122"/>
            <a:ext cx="33432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反复提的常见说法——分布默认，但不对</a:t>
            </a:r>
            <a:endParaRPr lang="en-US" sz="70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488" y="3979069"/>
            <a:ext cx="3586163" cy="650081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047059" y="3982641"/>
            <a:ext cx="3579019" cy="642938"/>
          </a:xfrm>
          <a:prstGeom prst="roundRect">
            <a:avLst>
              <a:gd name="adj" fmla="val 7407"/>
            </a:avLst>
          </a:prstGeom>
          <a:noFill/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5164931" y="4086225"/>
            <a:ext cx="33432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700" spc="9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</a:t>
            </a:r>
            <a:pPr algn="l" indent="0" marL="0">
              <a:lnSpc>
                <a:spcPts val="759"/>
              </a:lnSpc>
              <a:buNone/>
            </a:pPr>
            <a:r>
              <a:rPr lang="en-US" sz="700" spc="9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人想出来的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5164931" y="4225528"/>
            <a:ext cx="334327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涂抹局部处理</a:t>
            </a:r>
            <a:endParaRPr lang="en-US" sz="844" dirty="0"/>
          </a:p>
        </p:txBody>
      </p:sp>
      <p:sp>
        <p:nvSpPr>
          <p:cNvPr id="45" name="Text 41"/>
          <p:cNvSpPr/>
          <p:nvPr/>
        </p:nvSpPr>
        <p:spPr>
          <a:xfrm>
            <a:off x="5164931" y="4404122"/>
            <a:ext cx="33432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按产品形态自己想的小众解，再当锚点让模型实现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745196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概率输出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1060847"/>
            <a:ext cx="730118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149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</a:t>
            </a:r>
            <a:pPr algn="l" indent="0" marL="0">
              <a:lnSpc>
                <a:spcPts val="1013"/>
              </a:lnSpc>
              <a:buNone/>
            </a:pPr>
            <a:r>
              <a:rPr lang="en-US" sz="700" spc="149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机制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14350" y="1246584"/>
            <a:ext cx="6751844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27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概率输出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7225" y="1980940"/>
            <a:ext cx="7772400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657225" y="2188108"/>
            <a:ext cx="5246370" cy="23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每次生成是一次采样，不是查表；同一条件下可以抽出好样本，也可以抽出坏样本。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657225" y="2635262"/>
            <a:ext cx="6606540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63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为什么大概率不变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657225" y="2842431"/>
            <a:ext cx="4857750" cy="472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013" spc="5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解码仍是从（已学到的）分布里抽——调温度、换采样器、换模型，变的是抽法与分布形状，不是变成确定性检索。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7105799" y="1117997"/>
            <a:ext cx="70733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spc="9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PROMPT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312843" y="1260872"/>
            <a:ext cx="2135981" cy="267891"/>
          </a:xfrm>
          <a:prstGeom prst="roundRect">
            <a:avLst>
              <a:gd name="adj" fmla="val 14222"/>
            </a:avLst>
          </a:prstGeom>
          <a:solidFill>
            <a:srgbClr val="E8B86D">
              <a:alpha val="10000"/>
            </a:srgbClr>
          </a:solidFill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09271" y="1257300"/>
            <a:ext cx="214312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spc="12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同一条件下生成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309271" y="1575197"/>
            <a:ext cx="714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23646" y="1575197"/>
            <a:ext cx="714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38021" y="1575197"/>
            <a:ext cx="714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12843" y="1735931"/>
            <a:ext cx="669057" cy="592931"/>
          </a:xfrm>
          <a:prstGeom prst="roundRect">
            <a:avLst>
              <a:gd name="adj" fmla="val 6426"/>
            </a:avLst>
          </a:prstGeom>
          <a:solidFill>
            <a:srgbClr val="E8B86D">
              <a:alpha val="10000"/>
            </a:srgbClr>
          </a:solidFill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52650" y="1839516"/>
            <a:ext cx="589443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SAMPLE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44203" y="1975247"/>
            <a:ext cx="406337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好样本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21628" y="2132409"/>
            <a:ext cx="4514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命中期望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046193" y="1735931"/>
            <a:ext cx="669168" cy="592931"/>
          </a:xfrm>
          <a:prstGeom prst="roundRect">
            <a:avLst>
              <a:gd name="adj" fmla="val 6426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86000" y="1839516"/>
            <a:ext cx="589443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SAMPLE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45276" y="1975247"/>
            <a:ext cx="270891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54979" y="2132409"/>
            <a:ext cx="4514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中规中矩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779655" y="1735931"/>
            <a:ext cx="669057" cy="592931"/>
          </a:xfrm>
          <a:prstGeom prst="roundRect">
            <a:avLst>
              <a:gd name="adj" fmla="val 6426"/>
            </a:avLst>
          </a:prstGeom>
          <a:solidFill>
            <a:srgbClr val="F5F5F7">
              <a:alpha val="1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819463" y="1839516"/>
            <a:ext cx="589443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SAMPLE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11016" y="1975247"/>
            <a:ext cx="406337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坏样本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941273" y="2132409"/>
            <a:ext cx="34582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抽偏了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957941" y="2461022"/>
            <a:ext cx="84567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700" spc="4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同条件 · 有方差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014787" y="2618184"/>
            <a:ext cx="73209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不是查表·是抽样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6893830" y="2836069"/>
            <a:ext cx="124484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74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SAMPLING</a:t>
            </a:r>
            <a:pPr algn="l" indent="0" marL="0">
              <a:lnSpc>
                <a:spcPts val="928"/>
              </a:lnSpc>
              <a:buNone/>
            </a:pPr>
            <a:r>
              <a:rPr lang="en-US" sz="700" spc="74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抽样有方差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14350" y="4604147"/>
            <a:ext cx="1364212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spc="7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下一页起：一页一条推论。</a:t>
            </a:r>
            <a:endParaRPr lang="en-US" sz="73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18717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2015207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逐步加约束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32247"/>
            <a:ext cx="197865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</a:t>
            </a:r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← 概率输出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4350" y="1021556"/>
            <a:ext cx="8629650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逐步加约束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514350" y="1640160"/>
            <a:ext cx="771525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抽偏了就加禁令、收窄条件再试——别用单次采样给能力下死刑；变的是约束（采样空间），不是「模型突然会了」。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14350" y="2175942"/>
            <a:ext cx="614337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 · 中栏粘贴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7922" y="2411685"/>
            <a:ext cx="192881" cy="192881"/>
          </a:xfrm>
          <a:prstGeom prst="ellipse">
            <a:avLst/>
          </a:prstGeom>
          <a:noFill/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50" y="2408113"/>
            <a:ext cx="257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8675" y="2422401"/>
            <a:ext cx="6332077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828675" y="2623096"/>
            <a:ext cx="4208026" cy="178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顺手改打包、甚至删功能称修好了 → 否决。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610791" y="2788072"/>
            <a:ext cx="7144" cy="157163"/>
          </a:xfrm>
          <a:prstGeom prst="rect">
            <a:avLst/>
          </a:prstGeom>
          <a:solidFill>
            <a:srgbClr val="F5F5F7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7922" y="2948806"/>
            <a:ext cx="192881" cy="192881"/>
          </a:xfrm>
          <a:prstGeom prst="ellipse">
            <a:avLst/>
          </a:prstGeom>
          <a:noFill/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350" y="2945234"/>
            <a:ext cx="257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8675" y="2959522"/>
            <a:ext cx="4696958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加上「别碰打包」再试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828675" y="3160216"/>
            <a:ext cx="6332077" cy="178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还是越界。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10791" y="3325192"/>
            <a:ext cx="7144" cy="157163"/>
          </a:xfrm>
          <a:prstGeom prst="rect">
            <a:avLst/>
          </a:prstGeom>
          <a:solidFill>
            <a:srgbClr val="F5F5F7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7922" y="3485927"/>
            <a:ext cx="192881" cy="192881"/>
          </a:xfrm>
          <a:prstGeom prst="ellipse">
            <a:avLst/>
          </a:prstGeom>
          <a:noFill/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4350" y="3482355"/>
            <a:ext cx="257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8675" y="3496642"/>
            <a:ext cx="4208026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继续加「只动 </a:t>
            </a:r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、禁止删功能」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828675" y="3697337"/>
            <a:ext cx="4208026" cy="178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不让做什么越写越清，才得到能用的改法。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5097066" y="2179513"/>
            <a:ext cx="3529013" cy="2035969"/>
          </a:xfrm>
          <a:prstGeom prst="roundRect">
            <a:avLst>
              <a:gd name="adj" fmla="val 2807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0" descr="/tmp/h2p-fit-1785219238907-s8b1q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9225" y="2311673"/>
            <a:ext cx="3264694" cy="157162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229225" y="3954735"/>
            <a:ext cx="32646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14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高尔顿板 · 挡板 = 约束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18717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2065213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多候选再选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32247"/>
            <a:ext cx="197865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</a:t>
            </a:r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← 概率输出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4350" y="1021556"/>
            <a:ext cx="8629650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多候选再选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514350" y="1668735"/>
            <a:ext cx="8101013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生成变便宜时，与其迷信单发，不如多抽几个候选，用便宜的验真器挑一个。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514350" y="2225948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2443832"/>
            <a:ext cx="8115300" cy="8436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7922" y="2447404"/>
            <a:ext cx="8108156" cy="836488"/>
          </a:xfrm>
          <a:prstGeom prst="roundRect">
            <a:avLst>
              <a:gd name="adj" fmla="val 6832"/>
            </a:avLst>
          </a:prstGeom>
          <a:noFill/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50094" y="2651001"/>
            <a:ext cx="3796617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 / 收敛路线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750094" y="2962424"/>
            <a:ext cx="47457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 </a:t>
            </a:r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44801" y="2671428"/>
            <a:ext cx="4449105" cy="40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同一问题问多个模型，甚至同一模型多问几遍；把路径摊开对比，再收成「做什么 / 不做什么」，而不是死磕第一次回答。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7922" y="3462486"/>
            <a:ext cx="8108156" cy="1150144"/>
          </a:xfrm>
          <a:prstGeom prst="roundRect">
            <a:avLst>
              <a:gd name="adj" fmla="val 4969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92944" y="3623221"/>
            <a:ext cx="77581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BEST-OF-N</a:t>
            </a:r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把随机性当资源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96516" y="3844677"/>
            <a:ext cx="819745" cy="603647"/>
          </a:xfrm>
          <a:prstGeom prst="roundRect">
            <a:avLst>
              <a:gd name="adj" fmla="val 6312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71525" y="3933974"/>
            <a:ext cx="66972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SAMPLE 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56382" y="407327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984" dirty="0"/>
          </a:p>
        </p:txBody>
      </p:sp>
      <p:sp>
        <p:nvSpPr>
          <p:cNvPr id="20" name="Text 17"/>
          <p:cNvSpPr/>
          <p:nvPr/>
        </p:nvSpPr>
        <p:spPr>
          <a:xfrm>
            <a:off x="1594842" y="3844677"/>
            <a:ext cx="819745" cy="603647"/>
          </a:xfrm>
          <a:prstGeom prst="roundRect">
            <a:avLst>
              <a:gd name="adj" fmla="val 6312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669852" y="3933974"/>
            <a:ext cx="66972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SAMPLE 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954709" y="407327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984" dirty="0"/>
          </a:p>
        </p:txBody>
      </p:sp>
      <p:sp>
        <p:nvSpPr>
          <p:cNvPr id="23" name="Text 20"/>
          <p:cNvSpPr/>
          <p:nvPr/>
        </p:nvSpPr>
        <p:spPr>
          <a:xfrm>
            <a:off x="2493169" y="3844677"/>
            <a:ext cx="819745" cy="603647"/>
          </a:xfrm>
          <a:prstGeom prst="roundRect">
            <a:avLst>
              <a:gd name="adj" fmla="val 6312"/>
            </a:avLst>
          </a:prstGeom>
          <a:solidFill>
            <a:srgbClr val="E8B86D">
              <a:alpha val="10000"/>
            </a:srgbClr>
          </a:solidFill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564561" y="3933974"/>
            <a:ext cx="676961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SAMPLE 3 ✓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853035" y="407327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984" dirty="0"/>
          </a:p>
        </p:txBody>
      </p:sp>
      <p:sp>
        <p:nvSpPr>
          <p:cNvPr id="26" name="Text 23"/>
          <p:cNvSpPr/>
          <p:nvPr/>
        </p:nvSpPr>
        <p:spPr>
          <a:xfrm>
            <a:off x="3391495" y="3844677"/>
            <a:ext cx="819745" cy="603647"/>
          </a:xfrm>
          <a:prstGeom prst="roundRect">
            <a:avLst>
              <a:gd name="adj" fmla="val 6312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466505" y="3933974"/>
            <a:ext cx="66972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SAMPLE 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751362" y="407327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984" dirty="0"/>
          </a:p>
        </p:txBody>
      </p:sp>
      <p:sp>
        <p:nvSpPr>
          <p:cNvPr id="29" name="Text 26"/>
          <p:cNvSpPr/>
          <p:nvPr/>
        </p:nvSpPr>
        <p:spPr>
          <a:xfrm>
            <a:off x="4371975" y="40679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30" name="Text 27"/>
          <p:cNvSpPr/>
          <p:nvPr/>
        </p:nvSpPr>
        <p:spPr>
          <a:xfrm>
            <a:off x="4689872" y="3844677"/>
            <a:ext cx="3757613" cy="603647"/>
          </a:xfrm>
          <a:prstGeom prst="roundRect">
            <a:avLst>
              <a:gd name="adj" fmla="val 6312"/>
            </a:avLst>
          </a:prstGeom>
          <a:solidFill>
            <a:srgbClr val="E8B86D">
              <a:alpha val="10000"/>
            </a:srgbClr>
          </a:solidFill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07744" y="3948261"/>
            <a:ext cx="352186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CHEAP VERIFIER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07744" y="4087564"/>
            <a:ext cx="352186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便宜验真器挑一个</a:t>
            </a:r>
            <a:endParaRPr lang="en-US" sz="731" dirty="0"/>
          </a:p>
          <a:p>
            <a:pPr algn="l" indent="0" marL="0">
              <a:lnSpc>
                <a:spcPts val="1097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人眼对比 · 对照开源 · 短跑通</a:t>
            </a:r>
            <a:endParaRPr lang="en-US" sz="73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47961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pic>
        <p:nvPicPr>
          <p:cNvPr id="3" name="Image 0" descr="/tmp/h2p-svg-1785219244808-tc1f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7191" y="1607344"/>
            <a:ext cx="1143000" cy="857250"/>
          </a:xfrm>
          <a:prstGeom prst="rect">
            <a:avLst/>
          </a:prstGeom>
        </p:spPr>
      </p:pic>
      <p:pic>
        <p:nvPicPr>
          <p:cNvPr id="4" name="Image 1" descr="/tmp/h2p-svg-1785219244808-bxipj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359" y="1607344"/>
            <a:ext cx="1143000" cy="857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 · 高内聚低耦合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/ 21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14350" y="832247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</a:t>
            </a:r>
            <a:pPr algn="l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工程侧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14350" y="1017984"/>
            <a:ext cx="8629650" cy="42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 · 高内聚低耦合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14350" y="1869430"/>
            <a:ext cx="21431" cy="482873"/>
          </a:xfrm>
          <a:prstGeom prst="roundRect">
            <a:avLst>
              <a:gd name="adj" fmla="val 88890"/>
            </a:avLst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78656" y="1869430"/>
            <a:ext cx="84653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678656" y="2133749"/>
            <a:ext cx="6789420" cy="23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013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高内聚低耦合——该在一起的放一起，不相关的别缠在一起。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514350" y="2609478"/>
            <a:ext cx="21431" cy="482873"/>
          </a:xfrm>
          <a:prstGeom prst="roundRect">
            <a:avLst>
              <a:gd name="adj" fmla="val 88890"/>
            </a:avLst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78656" y="2609478"/>
            <a:ext cx="84653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为什么仍要讲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678656" y="2873797"/>
            <a:ext cx="6286500" cy="23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013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不是新术语，是软件工程常识；但 </a:t>
            </a:r>
            <a:pPr algn="l" indent="0" marL="0">
              <a:lnSpc>
                <a:spcPts val="1721"/>
              </a:lnSpc>
              <a:buNone/>
            </a:pPr>
            <a:r>
              <a:rPr lang="en-US" sz="1013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721"/>
              </a:lnSpc>
              <a:buNone/>
            </a:pPr>
            <a:r>
              <a:rPr lang="en-US" sz="1013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改代码更快，缠在一起时炸得也更快，所以更要守。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514350" y="3378101"/>
            <a:ext cx="86296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下一页：落到本项目怎么做。</a:t>
            </a:r>
            <a:endParaRPr lang="en-US" sz="731" dirty="0"/>
          </a:p>
        </p:txBody>
      </p:sp>
      <p:sp>
        <p:nvSpPr>
          <p:cNvPr id="16" name="Text 12"/>
          <p:cNvSpPr/>
          <p:nvPr/>
        </p:nvSpPr>
        <p:spPr>
          <a:xfrm>
            <a:off x="5808348" y="1428750"/>
            <a:ext cx="172068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700" spc="9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 · 缠在一起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057900" y="2521744"/>
            <a:ext cx="1221581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改动一处</a:t>
            </a:r>
            <a:endParaRPr lang="en-US" sz="700" dirty="0"/>
          </a:p>
          <a:p>
            <a:pPr algn="ctr" indent="0" marL="0">
              <a:lnSpc>
                <a:spcPts val="788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牵动全身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7158517" y="1428750"/>
            <a:ext cx="172068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700" spc="90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内聚 · 分层清晰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7408069" y="2521744"/>
            <a:ext cx="1221581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70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改动炸裂半径</a:t>
            </a:r>
            <a:endParaRPr lang="en-US" sz="700" dirty="0"/>
          </a:p>
          <a:p>
            <a:pPr algn="ctr" indent="0" marL="0">
              <a:lnSpc>
                <a:spcPts val="788"/>
              </a:lnSpc>
              <a:buNone/>
            </a:pPr>
            <a:r>
              <a:rPr lang="en-US" sz="70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被关在同组内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5929007" y="2821781"/>
            <a:ext cx="282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 COHESION · LOW COUPLING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18717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2015207"/>
            <a:ext cx="811530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分层拆开改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32247"/>
            <a:ext cx="223991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</a:t>
            </a:r>
            <a:pPr algn="l" indent="0" marL="0">
              <a:lnSpc>
                <a:spcPts val="928"/>
              </a:lnSpc>
              <a:buNone/>
            </a:pPr>
            <a:r>
              <a:rPr lang="en-US" sz="700" spc="11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← 高内聚低耦合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4350" y="1021556"/>
            <a:ext cx="8629650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 · 分层拆开改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514350" y="1640160"/>
            <a:ext cx="833247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分层拆开再改——界面 / 逻辑 / 引擎分开；重复抽共用；重要行为有测试、一事一提交。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14350" y="2175942"/>
            <a:ext cx="672629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 · 本项目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7922" y="2397398"/>
            <a:ext cx="4724921" cy="587127"/>
          </a:xfrm>
          <a:prstGeom prst="roundRect">
            <a:avLst>
              <a:gd name="adj" fmla="val 9734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0081" y="2515270"/>
            <a:ext cx="45720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1050131" y="2515270"/>
            <a:ext cx="4060552" cy="158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 / 逻辑 / 引擎分开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1050131" y="2701677"/>
            <a:ext cx="4060552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改边缘处理不容易动到上传。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517922" y="3077394"/>
            <a:ext cx="4724921" cy="587127"/>
          </a:xfrm>
          <a:prstGeom prst="roundRect">
            <a:avLst>
              <a:gd name="adj" fmla="val 9734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0081" y="3195265"/>
            <a:ext cx="45720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1050131" y="3195265"/>
            <a:ext cx="4060552" cy="158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重复的抽成共用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1050131" y="3381673"/>
            <a:ext cx="4060552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少漏改。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517922" y="3757389"/>
            <a:ext cx="4724921" cy="587127"/>
          </a:xfrm>
          <a:prstGeom prst="roundRect">
            <a:avLst>
              <a:gd name="adj" fmla="val 9734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0081" y="3875261"/>
            <a:ext cx="45720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E8B86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1050131" y="3875261"/>
            <a:ext cx="4060552" cy="158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重要行为有测试；一事一提交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1050131" y="4061668"/>
            <a:ext cx="4060552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坏了能发现，回头也看得懂项目怎么长出来的。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5478587" y="2179513"/>
            <a:ext cx="3147492" cy="2150269"/>
          </a:xfrm>
          <a:prstGeom prst="roundRect">
            <a:avLst>
              <a:gd name="adj" fmla="val 2658"/>
            </a:avLst>
          </a:prstGeom>
          <a:solidFill>
            <a:srgbClr val="F5F5F7">
              <a:alpha val="2000"/>
            </a:srgbClr>
          </a:solidFill>
          <a:ln w="7144">
            <a:solidFill>
              <a:srgbClr val="F5F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0" descr="/tmp/h2p-fit-1785219240100-ymtsy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458" y="2297385"/>
            <a:ext cx="2911748" cy="17145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596458" y="4083323"/>
            <a:ext cx="291174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仓库结构 · 细粒度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commit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47961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9863" y="3903055"/>
            <a:ext cx="0" cy="385763"/>
          </a:xfrm>
          <a:prstGeom prst="line">
            <a:avLst/>
          </a:prstGeom>
          <a:noFill/>
          <a:ln w="7144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· 尽早给用户用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32247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</a:t>
            </a:r>
            <a:pPr algn="l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产品侧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4350" y="1017984"/>
            <a:ext cx="8629650" cy="42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· 尽早给用户用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14350" y="1783705"/>
            <a:ext cx="21431" cy="456419"/>
          </a:xfrm>
          <a:prstGeom prst="roundRect">
            <a:avLst>
              <a:gd name="adj" fmla="val 88890"/>
            </a:avLst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8656" y="1783705"/>
            <a:ext cx="84653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678656" y="2033736"/>
            <a:ext cx="7715250" cy="222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不做目标用户的真实使用，一定存在设计偏差——开发者自评和功能清单都不可靠。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14350" y="2425861"/>
            <a:ext cx="21431" cy="456419"/>
          </a:xfrm>
          <a:prstGeom prst="roundRect">
            <a:avLst>
              <a:gd name="adj" fmla="val 88890"/>
            </a:avLst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8656" y="2425861"/>
            <a:ext cx="84653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678656" y="2675892"/>
            <a:ext cx="7500938" cy="2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尽早交出去让用户用，按使用体验迭代。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14350" y="3068017"/>
            <a:ext cx="21431" cy="456419"/>
          </a:xfrm>
          <a:prstGeom prst="roundRect">
            <a:avLst>
              <a:gd name="adj" fmla="val 88890"/>
            </a:avLst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8656" y="3068017"/>
            <a:ext cx="84653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E8B8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678656" y="3318049"/>
            <a:ext cx="7143750" cy="222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自己觉得自动直出够用；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策划真抠发丝绿幕后，色边、过切、粘贴、两 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布局才变成主路径上的真问题。</a:t>
            </a:r>
            <a:endParaRPr lang="en-US" sz="956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3724461"/>
            <a:ext cx="8115300" cy="7429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7922" y="3728033"/>
            <a:ext cx="8108156" cy="735806"/>
          </a:xfrm>
          <a:prstGeom prst="roundRect">
            <a:avLst>
              <a:gd name="adj" fmla="val 7767"/>
            </a:avLst>
          </a:prstGeom>
          <a:noFill/>
          <a:ln w="7144">
            <a:solidFill>
              <a:srgbClr val="E8B86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21519" y="3938774"/>
            <a:ext cx="414745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E8B86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FEEDBACK URL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21519" y="4103080"/>
            <a:ext cx="29761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-8" kern="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https://idreamsky.feishu.cn/wiki/IjzzwcVlUi2y2DkR4Dzc7IWpn0b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3733391" y="412093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4312034" y="3903055"/>
            <a:ext cx="411044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i="1" spc="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「用户是最好的产品经理</a:t>
            </a:r>
            <a:endParaRPr lang="en-US" sz="1013" dirty="0"/>
          </a:p>
          <a:p>
            <a:pPr algn="r" indent="0" marL="0">
              <a:lnSpc>
                <a:spcPts val="1519"/>
              </a:lnSpc>
              <a:buNone/>
            </a:pPr>
            <a:r>
              <a:rPr lang="en-US" sz="1013" i="1" spc="10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——前提是先交出能用的东西。」</a:t>
            </a:r>
            <a:endParaRPr lang="en-US" sz="101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3139678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514350"/>
            <a:ext cx="77805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99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309186" y="514350"/>
            <a:ext cx="455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/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32247"/>
            <a:ext cx="54524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5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定边界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955142" y="832247"/>
            <a:ext cx="1136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spc="51" kern="0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1168784" y="832247"/>
            <a:ext cx="72705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5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对准机制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1723206" y="832247"/>
            <a:ext cx="1136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spc="51" kern="0" dirty="0">
                <a:solidFill>
                  <a:srgbClr val="E8B86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1936849" y="832247"/>
            <a:ext cx="669280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51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514350" y="1953816"/>
            <a:ext cx="8251031" cy="540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「我们塑造工具，然后工具塑造我们。」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514350" y="2653903"/>
            <a:ext cx="862965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51" kern="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麦克卢汉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14350" y="3432572"/>
            <a:ext cx="6750844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 </a:t>
            </a:r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F5F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怎么做事，也在重塑自己怎么做事。</a:t>
            </a:r>
            <a:endParaRPr lang="en-US" sz="1238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3002161"/>
            <a:ext cx="400050" cy="0"/>
          </a:xfrm>
          <a:prstGeom prst="line">
            <a:avLst/>
          </a:prstGeom>
          <a:noFill/>
          <a:ln w="7144">
            <a:solidFill>
              <a:srgbClr val="F5F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569714"/>
            <a:ext cx="200025" cy="7144"/>
          </a:xfrm>
          <a:prstGeom prst="rect">
            <a:avLst/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4388" y="514350"/>
            <a:ext cx="7815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IDREAMSKY · HACKATHON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1909167"/>
            <a:ext cx="5760720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spc="338" kern="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6750" dirty="0"/>
          </a:p>
        </p:txBody>
      </p:sp>
      <p:sp>
        <p:nvSpPr>
          <p:cNvPr id="6" name="Text 4"/>
          <p:cNvSpPr/>
          <p:nvPr/>
        </p:nvSpPr>
        <p:spPr>
          <a:xfrm>
            <a:off x="514350" y="3180755"/>
            <a:ext cx="120769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45" kern="0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pPr algn="l" indent="0" marL="0">
              <a:lnSpc>
                <a:spcPts val="1350"/>
              </a:lnSpc>
              <a:buNone/>
            </a:pPr>
            <a:r>
              <a:rPr lang="en-US" sz="900" spc="45" kern="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&amp; </a:t>
            </a:r>
            <a:pPr algn="l" indent="0" marL="0">
              <a:lnSpc>
                <a:spcPts val="1350"/>
              </a:lnSpc>
              <a:buNone/>
            </a:pPr>
            <a:r>
              <a:rPr lang="en-US" sz="900" spc="45" kern="0" dirty="0">
                <a:solidFill>
                  <a:srgbClr val="B8BC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pPr algn="l" indent="0" marL="0">
              <a:lnSpc>
                <a:spcPts val="1350"/>
              </a:lnSpc>
              <a:buNone/>
            </a:pPr>
            <a:r>
              <a:rPr lang="en-US" sz="900" spc="45" kern="0" dirty="0">
                <a:solidFill>
                  <a:srgbClr val="B8B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欢迎追问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4350" y="4389834"/>
            <a:ext cx="766727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4350" y="4550569"/>
            <a:ext cx="85358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李坤峰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7573080" y="4625578"/>
            <a:ext cx="10565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INTERNAL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50957" y="4868466"/>
            <a:ext cx="5407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 / 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2026-07-28T06:14:06Z</dcterms:created>
  <dcterms:modified xsi:type="dcterms:W3CDTF">2026-07-28T06:14:06Z</dcterms:modified>
</cp:coreProperties>
</file>